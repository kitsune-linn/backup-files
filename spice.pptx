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B5E20-8B72-FD9C-DD26-838AF7065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CF68A9-213E-1F54-9F79-352CFEE5A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8091EC-6749-DAE3-7596-BEEE934E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E4E230-D1FC-0ED6-2AE1-DA6D8321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CF3360-816B-9A42-695E-B310AB8A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61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3751A-5F23-49AD-0927-0B7F18DA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8A343-F385-DA11-1E4A-F2EF199D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7698DE-AC67-25D9-D921-BFB38ED1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2E5359-85BC-13E5-50C0-CB018730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B935F2-B98D-27B2-2CEB-4800676A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12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E628D-5F5C-AE31-D480-BCBF5A68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BF9BF5-D2EE-0B21-B6D9-3B4D619D0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5D1D9D-F076-5BDE-63F0-39FA6FC9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61945C-C54D-F03E-FFF2-5BD0AF64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36D56F-9E73-E9C1-C11C-71DC7CBFD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57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2EAAB-4E45-030F-894A-D1A1EDBD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66B14F-B8A9-3675-4DE8-3D0812FE9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70AA15-F471-D21E-4EE5-F96E016D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333A4C-68C3-5FCD-F40E-82698C29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5B970F-FC2E-D63F-677F-EB5BA1B3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8D0212-7693-E935-06CE-C06D96FF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02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4B7E9-9F1B-A439-BCD7-726FB249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D0D9A0-D75C-42AB-E9A2-444A4FCCD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0D054E-3C0B-C608-3B00-611A6A123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91419C4-390D-8E15-67BA-AFE529B77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C1A85D8-E1D5-A995-EE0F-1FB049B00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C3359BD-A62F-847F-BBB7-1D8A0E0D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E5DF673-D937-EA03-ABA4-417F2A68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234046D-E816-0872-7D1B-AC5716A0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4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EC81A0-28B7-061B-BDF4-71746CA9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61F533-E5F3-AD87-811D-C77BE083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573E45D-E39B-B240-99D7-4EAECF218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499C22-B149-188A-83DD-CEA69F1F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68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41E4D77-74CD-7C38-FC9E-A646A811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FA428FD-96C2-142F-DAB6-F5FFE5C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20268A-F7BD-F17E-766D-4BB4D759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23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741CE-BC4B-FB49-3C49-D82F34B2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D0C7A2-E175-F286-71F1-9B793F5B2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641824-A5B4-F0C4-8D19-A5D0BE71E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40749E-3E04-FA3B-5E99-3051C9D3E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440FEA-714C-3096-4004-4DE32175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3A4E85-17EB-1EFC-AF3C-D721D87C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83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E8DEB7-B406-EFDC-14BC-6599C1D3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32F0BE8-54F3-0E23-9A94-4B23D74BE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D8C143-5B57-F9CA-5231-DC094AF7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09BAEF-DA2A-1884-6D42-942AB036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F36ACB-BE1B-0D36-FCD1-DB782DB6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09ED83-375F-20DF-3FC1-FC897E0B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4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6081D-B834-8573-0D5F-5BE1F825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B2676A-B6EA-EEC8-BB98-4339D1710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851926-975B-E169-9902-753427BC4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642F3-66DB-7D95-23F0-771722D4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16AC7C-49CC-6803-5AA8-99817CFA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96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294BC8-6A31-4337-4B23-2638CD9B7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A81936-BCCC-FF04-C479-7729938C4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FB406C-7AA6-4153-075A-F55C03A9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ECD40B-78DA-AEE3-DEC1-70D48872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F9B8DC-6821-2E6D-A8B9-609B8389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9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0A0840-14C4-C3C2-866B-8A3CE22C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93DE41-7A01-B9CD-4B0A-61B451318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252065-0A19-8DD2-9083-986C39BF3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244FB-EF8B-4859-8004-F8723E5A6B66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4742E3-9F00-6245-60A3-BA18ED9F8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4D6801-9154-E6C4-131C-EBAAE3691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89EE6-63D8-45D6-BFD2-CBD7D8140E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332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AA103-8DD3-79B8-2C7A-25D521E2C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spice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18D7D37-B6D8-07DC-4EB5-FEB146741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05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C6DA3-E084-9463-D0DB-2D12CD58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69B730-9065-2FBE-05C4-623992C8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轉向鏡射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ctrl</a:t>
            </a:r>
            <a:r>
              <a:rPr lang="zh-TW" altLang="en-US" dirty="0"/>
              <a:t> </a:t>
            </a:r>
            <a:r>
              <a:rPr lang="en-US" altLang="zh-TW" dirty="0"/>
              <a:t>r</a:t>
            </a:r>
            <a:r>
              <a:rPr lang="zh-TW" altLang="en-US" dirty="0"/>
              <a:t> </a:t>
            </a:r>
            <a:r>
              <a:rPr lang="en-US" altLang="zh-TW" dirty="0"/>
              <a:t>,e</a:t>
            </a:r>
          </a:p>
          <a:p>
            <a:r>
              <a:rPr lang="zh-TW" altLang="en-US" dirty="0"/>
              <a:t>移動刪除選取 </a:t>
            </a:r>
            <a:r>
              <a:rPr lang="en-US" altLang="zh-TW" dirty="0"/>
              <a:t>:</a:t>
            </a:r>
            <a:r>
              <a:rPr lang="zh-TW" altLang="en-US" dirty="0"/>
              <a:t> 右鍵</a:t>
            </a:r>
            <a:r>
              <a:rPr lang="en-US" altLang="zh-TW" dirty="0"/>
              <a:t>edit</a:t>
            </a:r>
          </a:p>
          <a:p>
            <a:r>
              <a:rPr lang="zh-TW" altLang="en-US" dirty="0"/>
              <a:t>節點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net node</a:t>
            </a:r>
          </a:p>
          <a:p>
            <a:r>
              <a:rPr lang="zh-TW" altLang="en-US" dirty="0"/>
              <a:t>回到原位 </a:t>
            </a:r>
            <a:r>
              <a:rPr lang="en-US" altLang="zh-TW" dirty="0"/>
              <a:t>:</a:t>
            </a:r>
            <a:r>
              <a:rPr lang="zh-TW" altLang="en-US" dirty="0"/>
              <a:t> 空白鍵 </a:t>
            </a:r>
            <a:endParaRPr lang="en-US" altLang="zh-TW" dirty="0"/>
          </a:p>
          <a:p>
            <a:r>
              <a:rPr lang="zh-TW" altLang="en-US" dirty="0"/>
              <a:t>網表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view-spice list</a:t>
            </a:r>
          </a:p>
          <a:p>
            <a:r>
              <a:rPr lang="zh-TW" altLang="en-US" dirty="0"/>
              <a:t>元件細部參數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view-spice output log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3977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6EA25E-87FF-2106-A451-FF31B1EE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註解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95691FDC-BE68-190C-B520-48DAF314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Nmos</a:t>
            </a:r>
            <a:r>
              <a:rPr lang="zh-TW" altLang="en-US" dirty="0"/>
              <a:t>註解</a:t>
            </a:r>
            <a:r>
              <a:rPr lang="en-US" altLang="zh-TW" dirty="0"/>
              <a:t>:.model </a:t>
            </a:r>
            <a:r>
              <a:rPr lang="en-US" altLang="zh-TW" dirty="0">
                <a:solidFill>
                  <a:srgbClr val="92D050"/>
                </a:solidFill>
              </a:rPr>
              <a:t>name</a:t>
            </a:r>
            <a:r>
              <a:rPr lang="en-US" altLang="zh-TW" dirty="0"/>
              <a:t> </a:t>
            </a:r>
            <a:r>
              <a:rPr lang="en-US" altLang="zh-TW" dirty="0" err="1"/>
              <a:t>nmos</a:t>
            </a:r>
            <a:r>
              <a:rPr lang="en-US" altLang="zh-TW" dirty="0"/>
              <a:t>(</a:t>
            </a:r>
            <a:r>
              <a:rPr lang="en-US" altLang="zh-TW" dirty="0" err="1"/>
              <a:t>level,kp,vto,gamma,phi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語法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t.</a:t>
            </a:r>
          </a:p>
          <a:p>
            <a:r>
              <a:rPr lang="zh-TW" altLang="en-US" dirty="0"/>
              <a:t>註解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669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CC056E-2439-8619-28DB-6CE8E2883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1A27B5-7A4E-B956-7C4A-88A950D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掃描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.ac-dc sweep</a:t>
            </a:r>
          </a:p>
          <a:p>
            <a:r>
              <a:rPr lang="zh-TW" altLang="en-US" dirty="0"/>
              <a:t>放大鏡 </a:t>
            </a:r>
            <a:r>
              <a:rPr lang="en-US" altLang="zh-TW" dirty="0"/>
              <a:t>:</a:t>
            </a:r>
            <a:r>
              <a:rPr lang="zh-TW" altLang="en-US" dirty="0"/>
              <a:t> 電流 </a:t>
            </a:r>
            <a:r>
              <a:rPr lang="en-US" altLang="zh-TW" dirty="0"/>
              <a:t>,</a:t>
            </a:r>
            <a:r>
              <a:rPr lang="zh-TW" altLang="en-US" dirty="0"/>
              <a:t> 筆</a:t>
            </a:r>
            <a:r>
              <a:rPr lang="en-US" altLang="zh-TW" dirty="0"/>
              <a:t>:</a:t>
            </a:r>
            <a:r>
              <a:rPr lang="zh-TW" altLang="en-US" dirty="0"/>
              <a:t>電壓</a:t>
            </a:r>
            <a:r>
              <a:rPr lang="en-US" altLang="zh-TW" dirty="0"/>
              <a:t>(</a:t>
            </a:r>
            <a:r>
              <a:rPr lang="zh-TW" altLang="en-US" dirty="0"/>
              <a:t>再按一次取消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直橫共享視窗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window-tile vertically</a:t>
            </a:r>
          </a:p>
          <a:p>
            <a:r>
              <a:rPr lang="zh-TW" altLang="en-US" dirty="0"/>
              <a:t>加入電流電壓圖層 </a:t>
            </a:r>
            <a:r>
              <a:rPr lang="en-US" altLang="zh-TW" dirty="0"/>
              <a:t>:</a:t>
            </a:r>
            <a:r>
              <a:rPr lang="zh-TW" altLang="en-US" dirty="0"/>
              <a:t> 圖上右鍵</a:t>
            </a:r>
            <a:r>
              <a:rPr lang="en-US" altLang="zh-TW" dirty="0"/>
              <a:t>-add plot pane above</a:t>
            </a:r>
          </a:p>
          <a:p>
            <a:r>
              <a:rPr lang="zh-TW" altLang="en-US" dirty="0"/>
              <a:t>工作點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.ac-dc op </a:t>
            </a:r>
            <a:r>
              <a:rPr lang="en-US" altLang="zh-TW" dirty="0" err="1"/>
              <a:t>pnt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71068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601D4824-903A-2E75-E5CB-7322F5D5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998"/>
            <a:ext cx="12192000" cy="527000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F4467FA-F6E1-235A-C591-4F12D06FECD0}"/>
              </a:ext>
            </a:extLst>
          </p:cNvPr>
          <p:cNvSpPr txBox="1"/>
          <p:nvPr/>
        </p:nvSpPr>
        <p:spPr>
          <a:xfrm>
            <a:off x="895548" y="4877820"/>
            <a:ext cx="280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Operation point analysis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2A8F00D-023A-377C-110D-3D3711947EE1}"/>
              </a:ext>
            </a:extLst>
          </p:cNvPr>
          <p:cNvSpPr txBox="1"/>
          <p:nvPr/>
        </p:nvSpPr>
        <p:spPr>
          <a:xfrm>
            <a:off x="509631" y="1854184"/>
            <a:ext cx="1970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netlist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78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EF645334-014E-88F0-7A14-B6831FD6A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66" y="196509"/>
            <a:ext cx="10577477" cy="3139712"/>
          </a:xfrm>
          <a:prstGeom prst="rect">
            <a:avLst/>
          </a:prstGeom>
        </p:spPr>
      </p:pic>
      <p:pic>
        <p:nvPicPr>
          <p:cNvPr id="5" name="圖片 4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475AD505-2C67-1938-7F3A-D976EE8CE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8" t="13312" r="2340" b="2477"/>
          <a:stretch>
            <a:fillRect/>
          </a:stretch>
        </p:blipFill>
        <p:spPr>
          <a:xfrm>
            <a:off x="803066" y="3428999"/>
            <a:ext cx="10573283" cy="313971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31BCAB8-BDFD-CC02-F5E3-E3FB304E82C3}"/>
              </a:ext>
            </a:extLst>
          </p:cNvPr>
          <p:cNvSpPr txBox="1"/>
          <p:nvPr/>
        </p:nvSpPr>
        <p:spPr>
          <a:xfrm>
            <a:off x="1907628" y="5645381"/>
            <a:ext cx="234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Diode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type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name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93CD47-8BC1-BC00-22F1-BFF7543DB25B}"/>
              </a:ext>
            </a:extLst>
          </p:cNvPr>
          <p:cNvSpPr txBox="1"/>
          <p:nvPr/>
        </p:nvSpPr>
        <p:spPr>
          <a:xfrm>
            <a:off x="2002221" y="3436798"/>
            <a:ext cx="234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Diode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parameter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439B74E-0312-E5A3-4CA5-854D97F3B353}"/>
              </a:ext>
            </a:extLst>
          </p:cNvPr>
          <p:cNvCxnSpPr>
            <a:cxnSpLocks/>
          </p:cNvCxnSpPr>
          <p:nvPr/>
        </p:nvCxnSpPr>
        <p:spPr>
          <a:xfrm flipH="1" flipV="1">
            <a:off x="1907628" y="4729655"/>
            <a:ext cx="504496" cy="915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C8D59BB-DB08-FDA6-ACE1-CC53649A26D2}"/>
              </a:ext>
            </a:extLst>
          </p:cNvPr>
          <p:cNvCxnSpPr>
            <a:cxnSpLocks/>
          </p:cNvCxnSpPr>
          <p:nvPr/>
        </p:nvCxnSpPr>
        <p:spPr>
          <a:xfrm flipH="1" flipV="1">
            <a:off x="1907628" y="4998854"/>
            <a:ext cx="504496" cy="646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24E8F64-2187-4B3C-B9E8-F0B034592D0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837793" y="3806130"/>
            <a:ext cx="338959" cy="1010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8A86026-A37F-7BBB-D0DB-E32C2A337A9D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215055" y="1859146"/>
            <a:ext cx="961697" cy="1577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BE65071-844E-114C-84EA-5EA5B3812167}"/>
              </a:ext>
            </a:extLst>
          </p:cNvPr>
          <p:cNvSpPr txBox="1"/>
          <p:nvPr/>
        </p:nvSpPr>
        <p:spPr>
          <a:xfrm>
            <a:off x="2159876" y="373825"/>
            <a:ext cx="234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(Default value)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5D5624B-1188-B43C-B608-F62FBC2815D5}"/>
              </a:ext>
            </a:extLst>
          </p:cNvPr>
          <p:cNvSpPr txBox="1"/>
          <p:nvPr/>
        </p:nvSpPr>
        <p:spPr>
          <a:xfrm>
            <a:off x="2151993" y="4452657"/>
            <a:ext cx="234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(none)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36E09237-D141-5D52-5395-A4C53E1907BA}"/>
              </a:ext>
            </a:extLst>
          </p:cNvPr>
          <p:cNvCxnSpPr>
            <a:cxnSpLocks/>
          </p:cNvCxnSpPr>
          <p:nvPr/>
        </p:nvCxnSpPr>
        <p:spPr>
          <a:xfrm flipH="1">
            <a:off x="2278117" y="658624"/>
            <a:ext cx="729155" cy="1031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426A0969-754C-9B1C-9E06-86361F6B5596}"/>
              </a:ext>
            </a:extLst>
          </p:cNvPr>
          <p:cNvCxnSpPr>
            <a:cxnSpLocks/>
          </p:cNvCxnSpPr>
          <p:nvPr/>
        </p:nvCxnSpPr>
        <p:spPr>
          <a:xfrm flipH="1" flipV="1">
            <a:off x="2057400" y="4248807"/>
            <a:ext cx="354724" cy="139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5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F43FA4B6-C8AF-34FC-D411-1B7682FF4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589"/>
            <a:ext cx="12192000" cy="565482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9067A9E-2719-0BE3-27FD-66201978D2D1}"/>
              </a:ext>
            </a:extLst>
          </p:cNvPr>
          <p:cNvSpPr txBox="1"/>
          <p:nvPr/>
        </p:nvSpPr>
        <p:spPr>
          <a:xfrm>
            <a:off x="4430110" y="3428999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Dc sweep value with V/I </a:t>
            </a:r>
            <a:r>
              <a:rPr lang="en-US" altLang="zh-TW" dirty="0" err="1">
                <a:solidFill>
                  <a:srgbClr val="FF0000"/>
                </a:solidFill>
              </a:rPr>
              <a:t>seperately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2B4935-D94A-2DAE-3DB1-3907B5DF2E65}"/>
              </a:ext>
            </a:extLst>
          </p:cNvPr>
          <p:cNvSpPr txBox="1"/>
          <p:nvPr/>
        </p:nvSpPr>
        <p:spPr>
          <a:xfrm>
            <a:off x="5919952" y="5361011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 (.</a:t>
            </a:r>
            <a:r>
              <a:rPr lang="en-US" altLang="zh-TW" dirty="0" err="1">
                <a:solidFill>
                  <a:srgbClr val="FF0000"/>
                </a:solidFill>
              </a:rPr>
              <a:t>op&amp;.dc</a:t>
            </a:r>
            <a:r>
              <a:rPr lang="en-US" altLang="zh-TW" dirty="0">
                <a:solidFill>
                  <a:srgbClr val="FF0000"/>
                </a:solidFill>
              </a:rPr>
              <a:t> one at a time)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0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陳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123E32DD-EDA9-2127-A43B-80444C18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628"/>
            <a:ext cx="12192000" cy="575274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FD41A10-DD90-21E3-0FB0-B24966688B87}"/>
              </a:ext>
            </a:extLst>
          </p:cNvPr>
          <p:cNvSpPr txBox="1"/>
          <p:nvPr/>
        </p:nvSpPr>
        <p:spPr>
          <a:xfrm>
            <a:off x="4005005" y="3428999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Dc sweep value with V/I on the same plot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9FE275-E231-CB4C-5743-D2C8E121067B}"/>
              </a:ext>
            </a:extLst>
          </p:cNvPr>
          <p:cNvSpPr txBox="1"/>
          <p:nvPr/>
        </p:nvSpPr>
        <p:spPr>
          <a:xfrm>
            <a:off x="7480269" y="5886180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.save only saves certain node (save space)</a:t>
            </a:r>
          </a:p>
        </p:txBody>
      </p:sp>
    </p:spTree>
    <p:extLst>
      <p:ext uri="{BB962C8B-B14F-4D97-AF65-F5344CB8AC3E}">
        <p14:creationId xmlns:p14="http://schemas.microsoft.com/office/powerpoint/2010/main" val="115119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9986BD7F-B189-2C08-7BC6-2DA5F8BE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8085"/>
            <a:ext cx="12192000" cy="498183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B01CE30-ECEA-322F-0023-6360617B8CE1}"/>
              </a:ext>
            </a:extLst>
          </p:cNvPr>
          <p:cNvSpPr txBox="1"/>
          <p:nvPr/>
        </p:nvSpPr>
        <p:spPr>
          <a:xfrm>
            <a:off x="8038913" y="4022632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W1 is twice W2, thus Id1 is twice Id2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FF9E93-03A1-820D-7331-5A20D0774F3B}"/>
              </a:ext>
            </a:extLst>
          </p:cNvPr>
          <p:cNvSpPr txBox="1"/>
          <p:nvPr/>
        </p:nvSpPr>
        <p:spPr>
          <a:xfrm>
            <a:off x="417600" y="1252217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NMOS D G S B type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AC1F46C-005B-BB2B-1925-99E1C72E6D7F}"/>
              </a:ext>
            </a:extLst>
          </p:cNvPr>
          <p:cNvCxnSpPr>
            <a:cxnSpLocks/>
          </p:cNvCxnSpPr>
          <p:nvPr/>
        </p:nvCxnSpPr>
        <p:spPr>
          <a:xfrm flipH="1">
            <a:off x="987879" y="1543050"/>
            <a:ext cx="383721" cy="391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61D4D9-8EA7-AF1E-DDC1-9BEE5594B04B}"/>
              </a:ext>
            </a:extLst>
          </p:cNvPr>
          <p:cNvSpPr txBox="1"/>
          <p:nvPr/>
        </p:nvSpPr>
        <p:spPr>
          <a:xfrm>
            <a:off x="0" y="5029560"/>
            <a:ext cx="536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Resistor </a:t>
            </a:r>
            <a:r>
              <a:rPr lang="en-US" altLang="zh-TW" dirty="0" err="1">
                <a:solidFill>
                  <a:srgbClr val="FF0000"/>
                </a:solidFill>
              </a:rPr>
              <a:t>tolerance,power</a:t>
            </a:r>
            <a:r>
              <a:rPr lang="en-US" altLang="zh-TW" dirty="0">
                <a:solidFill>
                  <a:srgbClr val="FF0000"/>
                </a:solidFill>
              </a:rPr>
              <a:t> rating(maximum power)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5226859-BEB2-1AA1-3721-8A80C778CADC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343150" y="2620736"/>
            <a:ext cx="340836" cy="2408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879BC99-6E46-C29E-A67B-90E4F740865E}"/>
              </a:ext>
            </a:extLst>
          </p:cNvPr>
          <p:cNvSpPr txBox="1"/>
          <p:nvPr/>
        </p:nvSpPr>
        <p:spPr>
          <a:xfrm>
            <a:off x="5354927" y="1060617"/>
            <a:ext cx="536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Series resistor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7DDB82E-93BF-3181-F16F-FD34416A43CF}"/>
              </a:ext>
            </a:extLst>
          </p:cNvPr>
          <p:cNvCxnSpPr>
            <a:cxnSpLocks/>
          </p:cNvCxnSpPr>
          <p:nvPr/>
        </p:nvCxnSpPr>
        <p:spPr>
          <a:xfrm flipH="1">
            <a:off x="4528366" y="1390864"/>
            <a:ext cx="1517242" cy="4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1020C866-438D-C031-7A7E-7BF377B3688B}"/>
              </a:ext>
            </a:extLst>
          </p:cNvPr>
          <p:cNvCxnSpPr>
            <a:cxnSpLocks/>
          </p:cNvCxnSpPr>
          <p:nvPr/>
        </p:nvCxnSpPr>
        <p:spPr>
          <a:xfrm flipH="1" flipV="1">
            <a:off x="10920389" y="3641271"/>
            <a:ext cx="550432" cy="381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C369B33-D712-AC8C-CAA1-260F05AA7FEE}"/>
              </a:ext>
            </a:extLst>
          </p:cNvPr>
          <p:cNvCxnSpPr>
            <a:cxnSpLocks/>
          </p:cNvCxnSpPr>
          <p:nvPr/>
        </p:nvCxnSpPr>
        <p:spPr>
          <a:xfrm flipH="1" flipV="1">
            <a:off x="10589079" y="2620736"/>
            <a:ext cx="881742" cy="1401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106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6188B1A6-FA52-9E70-DD32-D13A4B877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329"/>
            <a:ext cx="12192000" cy="582734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537B840-18E3-75E8-A387-E6F585337390}"/>
              </a:ext>
            </a:extLst>
          </p:cNvPr>
          <p:cNvSpPr txBox="1"/>
          <p:nvPr/>
        </p:nvSpPr>
        <p:spPr>
          <a:xfrm>
            <a:off x="3918294" y="3610302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Dc sweep value with V/I shown </a:t>
            </a:r>
            <a:r>
              <a:rPr lang="en-US" altLang="zh-TW" dirty="0" err="1">
                <a:solidFill>
                  <a:srgbClr val="FF0000"/>
                </a:solidFill>
              </a:rPr>
              <a:t>seperately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4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3673D81-CDE5-1727-8AD4-BB6F0C6EE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82"/>
            <a:ext cx="12192000" cy="667081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D4CC14D-A5A6-0AEC-C924-C69EFBB4D351}"/>
              </a:ext>
            </a:extLst>
          </p:cNvPr>
          <p:cNvSpPr txBox="1"/>
          <p:nvPr/>
        </p:nvSpPr>
        <p:spPr>
          <a:xfrm>
            <a:off x="8023241" y="5511527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M2 with body effect, Vt2 &gt; 0.8V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A153755B-9484-BD96-9DAF-5A3655BE6EA3}"/>
              </a:ext>
            </a:extLst>
          </p:cNvPr>
          <p:cNvCxnSpPr>
            <a:cxnSpLocks/>
          </p:cNvCxnSpPr>
          <p:nvPr/>
        </p:nvCxnSpPr>
        <p:spPr>
          <a:xfrm flipH="1">
            <a:off x="6408964" y="5743968"/>
            <a:ext cx="1614277" cy="783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31145D-FC9D-0B26-D661-15BC105B086B}"/>
              </a:ext>
            </a:extLst>
          </p:cNvPr>
          <p:cNvSpPr txBox="1"/>
          <p:nvPr/>
        </p:nvSpPr>
        <p:spPr>
          <a:xfrm>
            <a:off x="7881796" y="379628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NMOS D G S B type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47BC54-8F22-D12B-F2D8-E37069E72081}"/>
              </a:ext>
            </a:extLst>
          </p:cNvPr>
          <p:cNvSpPr txBox="1"/>
          <p:nvPr/>
        </p:nvSpPr>
        <p:spPr>
          <a:xfrm>
            <a:off x="7881796" y="790866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PMOS D G S B type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01DB855-AE25-68C6-B895-74B77468486B}"/>
              </a:ext>
            </a:extLst>
          </p:cNvPr>
          <p:cNvCxnSpPr>
            <a:cxnSpLocks/>
          </p:cNvCxnSpPr>
          <p:nvPr/>
        </p:nvCxnSpPr>
        <p:spPr>
          <a:xfrm flipH="1" flipV="1">
            <a:off x="6950457" y="458933"/>
            <a:ext cx="931339" cy="80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3FFCBBD-09B7-3D9A-C406-4B13F70CBD98}"/>
              </a:ext>
            </a:extLst>
          </p:cNvPr>
          <p:cNvCxnSpPr>
            <a:cxnSpLocks/>
          </p:cNvCxnSpPr>
          <p:nvPr/>
        </p:nvCxnSpPr>
        <p:spPr>
          <a:xfrm flipH="1">
            <a:off x="7211714" y="554109"/>
            <a:ext cx="670082" cy="209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1F0DC93-B69E-8E9E-2D1C-C66C808B6F68}"/>
              </a:ext>
            </a:extLst>
          </p:cNvPr>
          <p:cNvCxnSpPr>
            <a:cxnSpLocks/>
          </p:cNvCxnSpPr>
          <p:nvPr/>
        </p:nvCxnSpPr>
        <p:spPr>
          <a:xfrm flipH="1">
            <a:off x="7214974" y="982436"/>
            <a:ext cx="670082" cy="4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899D6E4-4469-4771-2407-61C6BCD899A0}"/>
              </a:ext>
            </a:extLst>
          </p:cNvPr>
          <p:cNvSpPr txBox="1"/>
          <p:nvPr/>
        </p:nvSpPr>
        <p:spPr>
          <a:xfrm>
            <a:off x="171989" y="3659445"/>
            <a:ext cx="4367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 is the one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closer to G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E3B7A7F-09AA-DA6B-8794-3C2E36F65BC8}"/>
              </a:ext>
            </a:extLst>
          </p:cNvPr>
          <p:cNvCxnSpPr>
            <a:cxnSpLocks/>
          </p:cNvCxnSpPr>
          <p:nvPr/>
        </p:nvCxnSpPr>
        <p:spPr>
          <a:xfrm flipV="1">
            <a:off x="999842" y="1461407"/>
            <a:ext cx="1065722" cy="2193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07A8BF0-E8E8-9526-4C19-0927F1C4211D}"/>
              </a:ext>
            </a:extLst>
          </p:cNvPr>
          <p:cNvCxnSpPr>
            <a:cxnSpLocks/>
          </p:cNvCxnSpPr>
          <p:nvPr/>
        </p:nvCxnSpPr>
        <p:spPr>
          <a:xfrm>
            <a:off x="938893" y="4305776"/>
            <a:ext cx="1126671" cy="1017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22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27A56CB4-1693-3F86-0A71-9D667F7B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673"/>
            <a:ext cx="12192000" cy="5582653"/>
          </a:xfrm>
          <a:prstGeom prst="rect">
            <a:avLst/>
          </a:prstGeom>
        </p:spPr>
      </p:pic>
      <p:pic>
        <p:nvPicPr>
          <p:cNvPr id="5" name="圖片 4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606DA1AE-FDF1-EDB4-AF2F-79D1FF5F3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0372"/>
            <a:ext cx="12192000" cy="56972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C5A3370-C1FD-A4D3-7DB8-4585AB41E4F1}"/>
              </a:ext>
            </a:extLst>
          </p:cNvPr>
          <p:cNvSpPr txBox="1"/>
          <p:nvPr/>
        </p:nvSpPr>
        <p:spPr>
          <a:xfrm>
            <a:off x="5391806" y="3373819"/>
            <a:ext cx="436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CMOS Inverter</a:t>
            </a:r>
          </a:p>
        </p:txBody>
      </p:sp>
    </p:spTree>
    <p:extLst>
      <p:ext uri="{BB962C8B-B14F-4D97-AF65-F5344CB8AC3E}">
        <p14:creationId xmlns:p14="http://schemas.microsoft.com/office/powerpoint/2010/main" val="337820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232</Words>
  <Application>Microsoft Office PowerPoint</Application>
  <PresentationFormat>寬螢幕</PresentationFormat>
  <Paragraphs>40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spice</vt:lpstr>
      <vt:lpstr>元件</vt:lpstr>
      <vt:lpstr>註解</vt:lpstr>
      <vt:lpstr>模擬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立志爬上青銅三</dc:creator>
  <cp:lastModifiedBy>立志爬上青銅三</cp:lastModifiedBy>
  <cp:revision>6</cp:revision>
  <dcterms:created xsi:type="dcterms:W3CDTF">2026-02-26T15:29:54Z</dcterms:created>
  <dcterms:modified xsi:type="dcterms:W3CDTF">2026-03-02T13:30:53Z</dcterms:modified>
</cp:coreProperties>
</file>